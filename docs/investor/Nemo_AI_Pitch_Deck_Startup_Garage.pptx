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2790655e284865" /><Relationship Type="http://schemas.openxmlformats.org/officeDocument/2006/relationships/extended-properties" Target="/docProps/app.xml" Id="Rf000c213a47043ef" /><Relationship Type="http://schemas.openxmlformats.org/officeDocument/2006/relationships/officeDocument" Target="/ppt/presentation.xml" Id="Re717c25b63c148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d37a9b60204654"/>
  </p:sldMasterIdLst>
  <p:notesMasterIdLst>
    <p:notesMasterId xmlns:r="http://schemas.openxmlformats.org/officeDocument/2006/relationships" r:id="R59dfb5a41a15428d"/>
  </p:notesMasterIdLst>
  <p:sldIdLst>
    <p:sldId xmlns:r="http://schemas.openxmlformats.org/officeDocument/2006/relationships" id="256" r:id="R56df50b705874fa7"/>
    <p:sldId xmlns:r="http://schemas.openxmlformats.org/officeDocument/2006/relationships" id="257" r:id="Rbf21a762b5834c79"/>
    <p:sldId xmlns:r="http://schemas.openxmlformats.org/officeDocument/2006/relationships" id="258" r:id="Rfa8cd0cd906d4f20"/>
    <p:sldId xmlns:r="http://schemas.openxmlformats.org/officeDocument/2006/relationships" id="259" r:id="Re28a6a53e0c14965"/>
    <p:sldId xmlns:r="http://schemas.openxmlformats.org/officeDocument/2006/relationships" id="260" r:id="R09cc036d9d3142d1"/>
    <p:sldId xmlns:r="http://schemas.openxmlformats.org/officeDocument/2006/relationships" id="261" r:id="Rb8399da5dd6d48ef"/>
    <p:sldId xmlns:r="http://schemas.openxmlformats.org/officeDocument/2006/relationships" id="262" r:id="R724a7de44f7c459d"/>
    <p:sldId xmlns:r="http://schemas.openxmlformats.org/officeDocument/2006/relationships" id="263" r:id="R8aa9beebcf9c4785"/>
    <p:sldId xmlns:r="http://schemas.openxmlformats.org/officeDocument/2006/relationships" id="264" r:id="Rb276bb544ce84f36"/>
    <p:sldId xmlns:r="http://schemas.openxmlformats.org/officeDocument/2006/relationships" id="265" r:id="R717477ba37c34a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89d6c417443cf" /><Relationship Type="http://schemas.openxmlformats.org/officeDocument/2006/relationships/slideMaster" Target="/ppt/slideMasters/slideMaster1.xml" Id="Raad37a9b60204654" /><Relationship Type="http://schemas.openxmlformats.org/officeDocument/2006/relationships/notesMaster" Target="/ppt/notesMasters/notesMaster1.xml" Id="R59dfb5a41a15428d" /><Relationship Type="http://schemas.openxmlformats.org/officeDocument/2006/relationships/presProps" Target="/ppt/presProps.xml" Id="R14087376bbe34ebd" /><Relationship Type="http://schemas.openxmlformats.org/officeDocument/2006/relationships/tableStyles" Target="/ppt/tableStyles.xml" Id="R0c32ff60fc3d4572" /><Relationship Type="http://schemas.openxmlformats.org/officeDocument/2006/relationships/slide" Target="/ppt/slides/slide1.xml" Id="R56df50b705874fa7" /><Relationship Type="http://schemas.openxmlformats.org/officeDocument/2006/relationships/slide" Target="/ppt/slides/slide2.xml" Id="Rbf21a762b5834c79" /><Relationship Type="http://schemas.openxmlformats.org/officeDocument/2006/relationships/slide" Target="/ppt/slides/slide3.xml" Id="Rfa8cd0cd906d4f20" /><Relationship Type="http://schemas.openxmlformats.org/officeDocument/2006/relationships/slide" Target="/ppt/slides/slide4.xml" Id="Re28a6a53e0c14965" /><Relationship Type="http://schemas.openxmlformats.org/officeDocument/2006/relationships/slide" Target="/ppt/slides/slide5.xml" Id="R09cc036d9d3142d1" /><Relationship Type="http://schemas.openxmlformats.org/officeDocument/2006/relationships/slide" Target="/ppt/slides/slide6.xml" Id="Rb8399da5dd6d48ef" /><Relationship Type="http://schemas.openxmlformats.org/officeDocument/2006/relationships/slide" Target="/ppt/slides/slide7.xml" Id="R724a7de44f7c459d" /><Relationship Type="http://schemas.openxmlformats.org/officeDocument/2006/relationships/slide" Target="/ppt/slides/slide8.xml" Id="R8aa9beebcf9c4785" /><Relationship Type="http://schemas.openxmlformats.org/officeDocument/2006/relationships/slide" Target="/ppt/slides/slide9.xml" Id="Rb276bb544ce84f36" /><Relationship Type="http://schemas.openxmlformats.org/officeDocument/2006/relationships/slide" Target="/ppt/slides/slide10.xml" Id="R717477ba37c34a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22a64e910e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3e904d03494413" /><Relationship Type="http://schemas.openxmlformats.org/officeDocument/2006/relationships/notesMaster" Target="/ppt/notesMasters/notesMaster1.xml" Id="R5f5e49991d0846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373444a61b4866" /><Relationship Type="http://schemas.openxmlformats.org/officeDocument/2006/relationships/notesMaster" Target="/ppt/notesMasters/notesMaster1.xml" Id="R378a5c2a02a049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98f36b61a4df6" /><Relationship Type="http://schemas.openxmlformats.org/officeDocument/2006/relationships/notesMaster" Target="/ppt/notesMasters/notesMaster1.xml" Id="R1c8a201a82844f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5371385e66447a" /><Relationship Type="http://schemas.openxmlformats.org/officeDocument/2006/relationships/notesMaster" Target="/ppt/notesMasters/notesMaster1.xml" Id="R26e9fce9b93a4b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ca76b082dc4b1e" /><Relationship Type="http://schemas.openxmlformats.org/officeDocument/2006/relationships/notesMaster" Target="/ppt/notesMasters/notesMaster1.xml" Id="Re7a9ae30151742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103d3d734243d9" /><Relationship Type="http://schemas.openxmlformats.org/officeDocument/2006/relationships/notesMaster" Target="/ppt/notesMasters/notesMaster1.xml" Id="R5e72fc45ddd445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c9795a5f18487f" /><Relationship Type="http://schemas.openxmlformats.org/officeDocument/2006/relationships/notesMaster" Target="/ppt/notesMasters/notesMaster1.xml" Id="R4782a13599fe4f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a854cf62e04c82" /><Relationship Type="http://schemas.openxmlformats.org/officeDocument/2006/relationships/notesMaster" Target="/ppt/notesMasters/notesMaster1.xml" Id="Rf0994961435c45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ac4c07570e4202" /><Relationship Type="http://schemas.openxmlformats.org/officeDocument/2006/relationships/notesMaster" Target="/ppt/notesMasters/notesMaster1.xml" Id="R8d4517887d584f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a5add377ad488f" /><Relationship Type="http://schemas.openxmlformats.org/officeDocument/2006/relationships/notesMaster" Target="/ppt/notesMasters/notesMaster1.xml" Id="R4653536842b649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(2026-08-26).</a:t>
            </a:r>
          </a:p>
          <a:p xmlns:a="http://schemas.openxmlformats.org/drawingml/2006/main">
            <a:r>
              <a:t>- User-provided Nemo AI logo artwork (2026-08-25).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(2026-08-26). Management estimates; not independently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(2026-08-26).</a:t>
            </a:r>
          </a:p>
          <a:p xmlns:a="http://schemas.openxmlformats.org/drawingml/2006/main">
            <a:r>
              <a:t>- Local Nemo AI application capture generated from repository build (2026-08-26).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(2026-08-26). Market sizing is a management estimate; not independently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(2026-08-26). Pricing is a proposed commercial model; not yet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(2026-08-26). Architecture claims reflect repository implementation; latency is a target, not a measured SLA.</a:t>
            </a:r>
          </a:p>
          <a:p xmlns:a="http://schemas.openxmlformats.org/drawingml/2006/main">
            <a:r>
              <a:t>- User-provided robotic octopus artwork (2026-08-25).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and repository progress summary (2026-08-26). No customer or revenue figures were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(2026-08-26). Competitive comparison is qualitative and should be validated against named competitors.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(2026-08-26). Founder titles and responsibility split inferred from the supplied narrative; confirm before external 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pitch brief (2026-08-26). Roadmap dates normalized to explicit years based on the current date; funding amount was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9289aebe942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0e92033f5c440f" /><Relationship Type="http://schemas.openxmlformats.org/officeDocument/2006/relationships/slideLayout" Target="/ppt/slideLayouts/slideLayout1.xml" Id="R9ea085e468b04d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a085e468b04d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2b4a6042446dc" /><Relationship Type="http://schemas.openxmlformats.org/officeDocument/2006/relationships/image" Target="/ppt/media/image.jpeg" Id="Rde010802f7854979" /><Relationship Type="http://schemas.openxmlformats.org/officeDocument/2006/relationships/notesSlide" Target="/ppt/notesSlides/notesSlide1.xml" Id="R8aa274e5cc9a48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da24759b14ba4" /><Relationship Type="http://schemas.openxmlformats.org/officeDocument/2006/relationships/notesSlide" Target="/ppt/notesSlides/notesSlide2.xml" Id="Rdd81a286c57344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bc122f69b47e1" /><Relationship Type="http://schemas.openxmlformats.org/officeDocument/2006/relationships/image" Target="/ppt/media/image2.jpeg" Id="R86a5b1b99376414f" /><Relationship Type="http://schemas.openxmlformats.org/officeDocument/2006/relationships/notesSlide" Target="/ppt/notesSlides/notesSlide3.xml" Id="R8d52e84d906c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2ccce0e274227" /><Relationship Type="http://schemas.openxmlformats.org/officeDocument/2006/relationships/notesSlide" Target="/ppt/notesSlides/notesSlide4.xml" Id="R27d4e48665794c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d23f6478e4500" /><Relationship Type="http://schemas.openxmlformats.org/officeDocument/2006/relationships/notesSlide" Target="/ppt/notesSlides/notesSlide5.xml" Id="Rda52156f26ed49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7fe8a444e4959" /><Relationship Type="http://schemas.openxmlformats.org/officeDocument/2006/relationships/image" Target="/ppt/media/image3.jpeg" Id="R359c244ac2034b16" /><Relationship Type="http://schemas.openxmlformats.org/officeDocument/2006/relationships/notesSlide" Target="/ppt/notesSlides/notesSlide6.xml" Id="R5b222550401949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5784f61e04f8b" /><Relationship Type="http://schemas.openxmlformats.org/officeDocument/2006/relationships/notesSlide" Target="/ppt/notesSlides/notesSlide7.xml" Id="R40741a49fc994e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00522cf5242bf" /><Relationship Type="http://schemas.openxmlformats.org/officeDocument/2006/relationships/notesSlide" Target="/ppt/notesSlides/notesSlide8.xml" Id="R82bd32812e504d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53aa85a8646e5" /><Relationship Type="http://schemas.openxmlformats.org/officeDocument/2006/relationships/notesSlide" Target="/ppt/notesSlides/notesSlide9.xml" Id="Rfa3b8b17691647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868fbcbc64909" /><Relationship Type="http://schemas.openxmlformats.org/officeDocument/2006/relationships/notesSlide" Target="/ppt/notesSlides/notesSlide10.xml" Id="Rc029fece0b114d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8C495-C5B7-4EBA-8D59-51E8A68D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291ED-42CC-4B70-9BDC-AC795EAD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627BD-3E2B-4959-85DD-D7C1588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D4F4"/>
                </a:solidFill>
              </a:defRPr>
            </a:pPr>
            <a:r>
              <a:rPr sz="1050" b="1">
                <a:solidFill>
                  <a:srgbClr val="21D4F4"/>
                </a:solidFill>
              </a:rPr>
              <a:t>NEMO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3AC9D-8A69-4C18-B187-1176E7FB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905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7FF"/>
                </a:solidFill>
              </a:defRPr>
            </a:pPr>
            <a:r>
              <a:rPr sz="4350" b="1">
                <a:solidFill>
                  <a:srgbClr val="F5F7FF"/>
                </a:solidFill>
              </a:rPr>
              <a:t>Автономные AI-команды</a:t>
            </a:r>
          </a:p>
          <a:p xmlns:a="http://schemas.openxmlformats.org/drawingml/2006/main">
            <a:pPr algn="l">
              <a:defRPr sz="4350" b="1">
                <a:solidFill>
                  <a:srgbClr val="F5F7FF"/>
                </a:solidFill>
              </a:defRPr>
            </a:pPr>
            <a:r>
              <a:rPr sz="4350" b="1">
                <a:solidFill>
                  <a:srgbClr val="F5F7FF"/>
                </a:solidFill>
              </a:rPr>
              <a:t>для реального бизнеса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29152-81E2-4367-BDE7-B601A285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5A4C4"/>
                </a:solidFill>
              </a:defRPr>
            </a:pPr>
            <a:r>
              <a:rPr sz="1725" b="0">
                <a:solidFill>
                  <a:srgbClr val="95A4C4"/>
                </a:solidFill>
              </a:rPr>
              <a:t>Продажи, поддержка и операционные процессы —</a:t>
            </a:r>
          </a:p>
          <a:p xmlns:a="http://schemas.openxmlformats.org/drawingml/2006/main">
            <a:pPr algn="l">
              <a:defRPr sz="1725" b="0">
                <a:solidFill>
                  <a:srgbClr val="95A4C4"/>
                </a:solidFill>
              </a:defRPr>
            </a:pPr>
            <a:r>
              <a:rPr sz="1725" b="0">
                <a:solidFill>
                  <a:srgbClr val="95A4C4"/>
                </a:solidFill>
              </a:rPr>
              <a:t>в одной управляемой мультиагентной платформе.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E61C2-6EEC-48F7-9D3D-6C4F13D5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857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AC5D1-3BBB-4893-9083-F2C377D3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</a:defRPr>
            </a:pPr>
            <a:r>
              <a:rPr sz="1350" b="1">
                <a:solidFill>
                  <a:srgbClr val="F5F7FF"/>
                </a:solidFill>
              </a:rPr>
              <a:t>Firdavs Bahtiyorov  ·  Sarvar Husnaliyev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11127-E090-4190-A239-7146704B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5A4C4"/>
                </a:solidFill>
              </a:defRPr>
            </a:pPr>
            <a:r>
              <a:rPr sz="1050" b="0">
                <a:solidFill>
                  <a:srgbClr val="95A4C4"/>
                </a:solidFill>
              </a:rPr>
              <a:t>Telegram / Email  ·  Tashkent, Uzbekistan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BBFD0-5375-4478-9E4B-C19CC9B7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8572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10802f7854979"/>
          <a:stretch xmlns:a="http://schemas.openxmlformats.org/drawingml/2006/main"/>
        </p:blipFill>
        <p:spPr>
          <a:xfrm xmlns:a="http://schemas.openxmlformats.org/drawingml/2006/main">
            <a:off x="8477250" y="1070351"/>
            <a:ext cx="2343150" cy="3136147"/>
          </a:xfrm>
          <a:prstGeom xmlns:a="http://schemas.openxmlformats.org/drawingml/2006/main" prst="roundRect">
            <a:avLst>
              <a:gd name="adj" fmla="val 650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FD209-0888-41DC-B64C-870FE2F5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434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7CFF"/>
                </a:solidFill>
              </a:defRPr>
            </a:pPr>
            <a:r>
              <a:rPr sz="975" b="1">
                <a:solidFill>
                  <a:srgbClr val="8B7CFF"/>
                </a:solidFill>
              </a:rPr>
              <a:t>STARTUP GARAGE ·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7325C-E6E4-4ED6-A1CF-331D0DC1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449DC-FA86-4356-98F3-D9FAB60B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A3354-CCEB-41F5-BF55-145C2784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6572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D6368-4635-4816-AC48-3E2D889C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C3F2E-35F0-4155-AC71-474C5B47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F"/>
                </a:solidFill>
              </a:defRPr>
            </a:pPr>
            <a:r>
              <a:rPr sz="3000" b="1">
                <a:solidFill>
                  <a:srgbClr val="F5F7FF"/>
                </a:solidFill>
              </a:rPr>
              <a:t>Бизнес теряет выручку в ручных процессах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E7D50-06DF-4CC5-9686-A920EE28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4C4"/>
                </a:solidFill>
              </a:defRPr>
            </a:pPr>
            <a:r>
              <a:rPr sz="1350" b="0">
                <a:solidFill>
                  <a:srgbClr val="95A4C4"/>
                </a:solidFill>
              </a:rPr>
              <a:t>Скорость ответа, качество квалификации и стоимость интеграций ограничивают рост.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FF1D3-7971-4D75-8E33-AEAB9B9A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D45AA-9C93-428D-8563-D24D8780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45101-C662-4DC1-9445-3B2C53C9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4CF15-F627-49FD-92CA-9DD44B93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7A"/>
                </a:solidFill>
              </a:defRPr>
            </a:pPr>
            <a:r>
              <a:rPr sz="4050" b="1">
                <a:solidFill>
                  <a:srgbClr val="FF6B7A"/>
                </a:solidFill>
              </a:rPr>
              <a:t>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9EC05-E1D7-4F85-903F-5AB13E33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</a:defRPr>
            </a:pPr>
            <a:r>
              <a:rPr sz="1500" b="1">
                <a:solidFill>
                  <a:srgbClr val="F5F7FF"/>
                </a:solidFill>
              </a:rPr>
              <a:t>потенциальной выручки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AD771-29AA-44AF-8B58-A0329A9A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33A83-EF8A-48F9-A09E-626F19B3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теряется из-за медленной обработки и пропущенных лидов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6F020-5E57-4F51-9DB7-16B5934D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B454"/>
                </a:solidFill>
              </a:defRPr>
            </a:pPr>
            <a:r>
              <a:rPr sz="4050" b="1">
                <a:solidFill>
                  <a:srgbClr val="FFB454"/>
                </a:solidFill>
              </a:rPr>
              <a:t>60%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DCE97-3C3A-48E4-BFE0-933E4906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90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</a:defRPr>
            </a:pPr>
            <a:r>
              <a:rPr sz="1500" b="1">
                <a:solidFill>
                  <a:srgbClr val="F5F7FF"/>
                </a:solidFill>
              </a:rPr>
              <a:t>рабочего времени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2B6C4-7F5D-49D4-955D-B65F5851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E4B8D-8243-43F5-8EA7-F9EC76D0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уходит на повторяющиеся операции и перенос данных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D98E4-1315-480C-86BB-D49855B2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D4F4"/>
                </a:solidFill>
              </a:defRPr>
            </a:pPr>
            <a:r>
              <a:rPr sz="4050" b="1">
                <a:solidFill>
                  <a:srgbClr val="21D4F4"/>
                </a:solidFill>
              </a:rPr>
              <a:t>Дни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A12A3-B249-4463-9AD1-0A53F4E0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</a:defRPr>
            </a:pPr>
            <a:r>
              <a:rPr sz="1500" b="1">
                <a:solidFill>
                  <a:srgbClr val="F5F7FF"/>
                </a:solidFill>
              </a:rPr>
              <a:t>на интеграцию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4AEFC-1CC0-44FA-966D-A46E1E0F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05511-E5E4-4EAE-B34B-2B072B10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уходят вместо запуска новой AI-команды за минуты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1EA77-2F24-4AE3-8115-6869363C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B2A13-A96E-454A-A09F-F70CB4C4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D4F4"/>
                </a:solidFill>
              </a:defRPr>
            </a:pPr>
            <a:r>
              <a:rPr sz="975" b="1">
                <a:solidFill>
                  <a:srgbClr val="21D4F4"/>
                </a:solidFill>
              </a:rPr>
              <a:t>Результат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6366C-5A2D-478F-A1D8-98D502CF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816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F"/>
                </a:solidFill>
              </a:defRPr>
            </a:pPr>
            <a:r>
              <a:rPr sz="1575" b="1">
                <a:solidFill>
                  <a:srgbClr val="F5F7FF"/>
                </a:solidFill>
              </a:rPr>
              <a:t>Компании платят за фрагментированные инструменты, но всё ещё не получают непрерывный, контролируемый бизнес-процесс.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6F1B4-9D51-48A3-9C2E-3ED3904B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4C4"/>
                </a:solidFill>
              </a:defRPr>
            </a:pPr>
            <a:r>
              <a:rPr sz="825" b="0">
                <a:solidFill>
                  <a:srgbClr val="95A4C4"/>
                </a:solidFill>
              </a:rPr>
              <a:t>Показатели — управленческие гипотезы; требуют подтверждения пилотами.</a:t>
            </a:r>
          </a:p>
        </p:txBody>
      </p:sp>
    </p:spTree>
    <p:extLst>
      <p:ext uri="{BB962C8B-B14F-4D97-AF65-F5344CB8AC3E}">
        <p14:creationId xmlns:p14="http://schemas.microsoft.com/office/powerpoint/2010/main" val="808193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3607F7-5377-459B-9BAA-580BD591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29B8C-C5D0-43F2-A02D-F1A3F1F5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F"/>
                </a:solidFill>
              </a:defRPr>
            </a:pPr>
            <a:r>
              <a:rPr sz="3000" b="1">
                <a:solidFill>
                  <a:srgbClr val="F5F7FF"/>
                </a:solidFill>
              </a:rPr>
              <a:t>Один бриф → управляемая AI-команда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6C61A-ECF0-45F4-B73D-D7B555CE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4C4"/>
                </a:solidFill>
              </a:defRPr>
            </a:pPr>
            <a:r>
              <a:rPr sz="1350" b="0">
                <a:solidFill>
                  <a:srgbClr val="95A4C4"/>
                </a:solidFill>
              </a:rPr>
              <a:t>Nemo собирает специалистов, исполняет шаги и сохраняет аудит результата.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67981-7863-46A3-B982-5D5705D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14262-FC5D-4273-8459-EC89AE2C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63223-620A-40AE-87BF-E45B0F6A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89649-AC5F-4B6F-9323-7F5DB738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0050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F3155-19DC-4694-8F20-05850B6C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EDAB4-883A-499E-9CCA-68C36280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0D1A"/>
                </a:solidFill>
              </a:defRPr>
            </a:pPr>
            <a:r>
              <a:rPr sz="825" b="1">
                <a:solidFill>
                  <a:srgbClr val="080D1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23977-1054-49F5-A352-9ADB0E4B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</a:defRPr>
            </a:pPr>
            <a:r>
              <a:rPr sz="1500" b="1">
                <a:solidFill>
                  <a:srgbClr val="F5F7FF"/>
                </a:solidFill>
              </a:rPr>
              <a:t>Создать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F0814-8F02-4756-93F7-19A21E10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003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Из промпта или готового шаблона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B52F2-FAFC-445C-8DE1-CE15414F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09B75-82FC-4E7F-B156-AF0AE2E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12375-E92A-449B-A3C8-4BA078B6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0D1A"/>
                </a:solidFill>
              </a:defRPr>
            </a:pPr>
            <a:r>
              <a:rPr sz="825" b="1">
                <a:solidFill>
                  <a:srgbClr val="080D1A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C8962-6715-432F-BD17-39290007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670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</a:defRPr>
            </a:pPr>
            <a:r>
              <a:rPr sz="1500" b="1">
                <a:solidFill>
                  <a:srgbClr val="F5F7FF"/>
                </a:solidFill>
              </a:rPr>
              <a:t>Оркестрировать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7765F-6E63-4350-85F7-D4FD6146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Квалификация, продажи, support, CRM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81E80-B002-4A3B-8564-0EC75D9F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D2BC0-BB1B-4235-9196-6C053F38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9028E-78BA-467A-82FA-EEDCD303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0D1A"/>
                </a:solidFill>
              </a:defRPr>
            </a:pPr>
            <a:r>
              <a:rPr sz="825" b="1">
                <a:solidFill>
                  <a:srgbClr val="080D1A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C5D08-336E-41E5-9E3B-61FDF1A2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672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</a:defRPr>
            </a:pPr>
            <a:r>
              <a:rPr sz="1500" b="1">
                <a:solidFill>
                  <a:srgbClr val="F5F7FF"/>
                </a:solidFill>
              </a:rPr>
              <a:t>Проверить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6E336-5EA1-4023-93A8-CAFCC1B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005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Policy, approvals, grounding и аудит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B53B6-24EA-4DDD-96D2-C4FA1D8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6629400" cy="3752850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5F7FF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5b1b99376414f"/>
          <a:srcRect xmlns:a="http://schemas.openxmlformats.org/drawingml/2006/main" l="0" t="6168" r="0" b="61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2085975"/>
            <a:ext cx="6362700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B857C-2563-4603-A680-431017A5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91200"/>
            <a:ext cx="436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5A4C4"/>
                </a:solidFill>
              </a:defRPr>
            </a:pPr>
            <a:r>
              <a:rPr sz="825" b="0">
                <a:solidFill>
                  <a:srgbClr val="95A4C4"/>
                </a:solidFill>
              </a:rPr>
              <a:t>Реальный интерфейс продукта · AI-команды</a:t>
            </a:r>
          </a:p>
        </p:txBody>
      </p:sp>
    </p:spTree>
    <p:extLst>
      <p:ext uri="{BB962C8B-B14F-4D97-AF65-F5344CB8AC3E}">
        <p14:creationId xmlns:p14="http://schemas.microsoft.com/office/powerpoint/2010/main" val="1109442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D14B5E-98D2-4CC9-84AE-474FC17D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5900F-D3D8-41E0-BB34-FB5D2E53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F"/>
                </a:solidFill>
              </a:defRPr>
            </a:pPr>
            <a:r>
              <a:rPr sz="3000" b="1">
                <a:solidFill>
                  <a:srgbClr val="F5F7FF"/>
                </a:solidFill>
              </a:rPr>
              <a:t>Региональный клин в глобальный рынок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BA56D-3313-4FF4-A59D-6ACDB675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4C4"/>
                </a:solidFill>
              </a:defRPr>
            </a:pPr>
            <a:r>
              <a:rPr sz="1350" b="0">
                <a:solidFill>
                  <a:srgbClr val="95A4C4"/>
                </a:solidFill>
              </a:rPr>
              <a:t>Старт: SMB и mid-market Центральной Азии. Расширение: MENA и emerging markets.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ED3E3-0AF4-4602-A937-5A2C7BAD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8D67B-86A9-4401-932C-4959334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7FB9C-1932-4F27-A8D7-5629A65C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D6081-54C8-4AB2-80F2-4DD282DC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D030A-BE1E-4095-AF52-21E15636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7CFF"/>
                </a:solidFill>
              </a:defRPr>
            </a:pPr>
            <a:r>
              <a:rPr sz="975" b="1">
                <a:solidFill>
                  <a:srgbClr val="8B7CFF"/>
                </a:solidFill>
              </a:rPr>
              <a:t>TAM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8BC61-FDCF-4AF2-8A1E-8DA329F2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F7FF"/>
                </a:solidFill>
              </a:defRPr>
            </a:pPr>
            <a:r>
              <a:rPr sz="2250" b="1">
                <a:solidFill>
                  <a:srgbClr val="F5F7FF"/>
                </a:solidFill>
              </a:rPr>
              <a:t>$1.5B+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6E4D9-47B3-463A-AF41-467D1CC3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AI-автоматизация бизнеса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CDF6C-C131-40EB-9ED8-D46B45C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336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21D4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02693-19E0-4CF9-BE92-A8255DF6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71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1D4F4"/>
                </a:solidFill>
              </a:defRPr>
            </a:pPr>
            <a:r>
              <a:rPr sz="975" b="1">
                <a:solidFill>
                  <a:srgbClr val="21D4F4"/>
                </a:solidFill>
              </a:rPr>
              <a:t>SAM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FF072-9AEC-40D1-A5B5-0A6B2FC0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14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F7FF"/>
                </a:solidFill>
              </a:defRPr>
            </a:pPr>
            <a:r>
              <a:rPr sz="2250" b="1">
                <a:solidFill>
                  <a:srgbClr val="F5F7FF"/>
                </a:solidFill>
              </a:rPr>
              <a:t>$120M+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37E14-7879-4673-9454-D3756E39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910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доступный региональный сегмент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59A33-F95B-4119-9474-0AED9B2D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669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38D9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A75C2-A3AA-47DC-9C4B-21FC9BF9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8D9A9"/>
                </a:solidFill>
              </a:defRPr>
            </a:pPr>
            <a:r>
              <a:rPr sz="975" b="1">
                <a:solidFill>
                  <a:srgbClr val="38D9A9"/>
                </a:solidFill>
              </a:rPr>
              <a:t>SOM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0FFF9-DEDA-4129-9C56-26B9F8F3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F7FF"/>
                </a:solidFill>
              </a:defRPr>
            </a:pPr>
            <a:r>
              <a:rPr sz="2250" b="1">
                <a:solidFill>
                  <a:srgbClr val="F5F7FF"/>
                </a:solidFill>
              </a:rPr>
              <a:t>$500K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6D370-22D1-4A7D-A20D-0F2C7F29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9100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цель ARR на стартовом горизонте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5E533-568F-4022-898A-EC87D3E3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34861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00109-3B7A-484F-B04B-4BA043B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</a:defRPr>
            </a:pPr>
            <a:r>
              <a:rPr sz="1350" b="1">
                <a:solidFill>
                  <a:srgbClr val="F5F7FF"/>
                </a:solidFill>
              </a:rPr>
              <a:t>Почему сейчас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F8A58-2E90-417A-A9BC-E3ED509A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B2911-2398-43F4-8660-A105095D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LLM стали достаточно сильными для tool-use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51198-8D96-422D-921F-59E2F28C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0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AE948-B778-4C63-A45A-95AE6558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Локальным рынкам нужна UZ / RU / EN адаптация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41F41-DB0C-4E5B-8C3E-972B2BE0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E0E5B-A702-416A-989D-ABA3381E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Бизнес требует контроля, аудита и on-premise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BD8AC-CAF0-4012-B1FE-1AE9CC58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4C4"/>
                </a:solidFill>
              </a:defRPr>
            </a:pPr>
            <a:r>
              <a:rPr sz="825" b="0">
                <a:solidFill>
                  <a:srgbClr val="95A4C4"/>
                </a:solidFill>
              </a:rPr>
              <a:t>Management estimate · требует market validation</a:t>
            </a:r>
          </a:p>
        </p:txBody>
      </p:sp>
    </p:spTree>
    <p:extLst>
      <p:ext uri="{BB962C8B-B14F-4D97-AF65-F5344CB8AC3E}">
        <p14:creationId xmlns:p14="http://schemas.microsoft.com/office/powerpoint/2010/main" val="1546808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99DFB2-BCAD-45CB-8535-864DED3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72D51-8059-43FA-8A59-113A1BC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F"/>
                </a:solidFill>
              </a:defRPr>
            </a:pPr>
            <a:r>
              <a:rPr sz="3000" b="1">
                <a:solidFill>
                  <a:srgbClr val="F5F7FF"/>
                </a:solidFill>
              </a:rPr>
              <a:t>Подписка + использование + внедрение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FD38A-1004-450F-A46B-5A24C2FC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4C4"/>
                </a:solidFill>
              </a:defRPr>
            </a:pPr>
            <a:r>
              <a:rPr sz="1350" b="0">
                <a:solidFill>
                  <a:srgbClr val="95A4C4"/>
                </a:solidFill>
              </a:rPr>
              <a:t>Предсказуемый SaaS-доход дополняется usage и enterprise onboarding.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3F1A0-4DF7-4E16-9F38-49209C8B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E291F-44B1-4FD2-B797-4EBD7D2A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F090E-519C-45CF-B083-43E1C912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EBE62-C0B6-4CD4-8FFD-88E1AF7E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528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1D4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7CA30-D08A-4D48-9AC3-185F43E2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STARTER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BC4EC-FA68-4002-A648-04B3E383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</a:defRPr>
            </a:pPr>
            <a:r>
              <a:rPr sz="3150" b="1">
                <a:solidFill>
                  <a:srgbClr val="F5F7FF"/>
                </a:solidFill>
              </a:rPr>
              <a:t>$99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D31FB-FE7F-44C6-85D1-4BC85D2C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289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/ мес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40C21-A259-46BE-9682-B2D3859F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1F72D-CB74-4813-BEA5-C2B93C9D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Первая автономная команда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00FE0-64A8-4F42-9CB9-4CDF5D2C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33528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21863-3B89-4D5E-92C3-335CB57B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CFF"/>
                </a:solidFill>
              </a:defRPr>
            </a:pPr>
            <a:r>
              <a:rPr sz="900" b="1">
                <a:solidFill>
                  <a:srgbClr val="8B7CFF"/>
                </a:solidFill>
              </a:rPr>
              <a:t>PRO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0351A-7814-4CD1-874A-A27F3BD3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</a:defRPr>
            </a:pPr>
            <a:r>
              <a:rPr sz="3150" b="1">
                <a:solidFill>
                  <a:srgbClr val="F5F7FF"/>
                </a:solidFill>
              </a:rPr>
              <a:t>$299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ED9CE-3ADA-4D76-973B-6819BEA6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/ мес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D6EE9-D268-49FF-8F01-286A1357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0520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D5878-0327-40E0-8D25-AF4735F8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Несколько команд и расширенные лимиты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A6393-B8E3-4826-B5F9-0AA2C985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3528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FF693-8F5E-4F2D-8128-6D385E9C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</a:defRPr>
            </a:pPr>
            <a:r>
              <a:rPr sz="900" b="1">
                <a:solidFill>
                  <a:srgbClr val="FFB454"/>
                </a:solidFill>
              </a:rPr>
              <a:t>SETUP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94815-5C47-4F57-8317-2E3CAFED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</a:defRPr>
            </a:pPr>
            <a:r>
              <a:rPr sz="3150" b="1">
                <a:solidFill>
                  <a:srgbClr val="F5F7FF"/>
                </a:solidFill>
              </a:rPr>
              <a:t>$1,500+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981F8-079F-4B5F-8AA2-10C6F510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289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разово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878BE-3E98-4C0F-B35A-DCE3CD44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D3832-4449-4FD1-84BC-958DF11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Интеграции, процессы и обучение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E2462E-6209-43F3-B3E7-66CEAFFE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9A9"/>
                </a:solidFill>
              </a:defRPr>
            </a:pPr>
            <a:r>
              <a:rPr sz="975" b="1">
                <a:solidFill>
                  <a:srgbClr val="38D9A9"/>
                </a:solidFill>
              </a:rPr>
              <a:t>Usage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E6149-7C43-4782-B2BE-B612A12A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F"/>
                </a:solidFill>
              </a:defRPr>
            </a:pPr>
            <a:r>
              <a:rPr sz="1425" b="1">
                <a:solidFill>
                  <a:srgbClr val="F5F7FF"/>
                </a:solidFill>
              </a:rPr>
              <a:t>Дополнительные compute runs, media и browser tasks — только с явным бюджетным контролем.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E282F5-421B-48EB-B8CD-E9EFE7A4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4C4"/>
                </a:solidFill>
              </a:defRPr>
            </a:pPr>
            <a:r>
              <a:rPr sz="825" b="0">
                <a:solidFill>
                  <a:srgbClr val="95A4C4"/>
                </a:solidFill>
              </a:rPr>
              <a:t>Pricing hypothesis · финализируется после пилотов и P90 COGS</a:t>
            </a:r>
          </a:p>
        </p:txBody>
      </p:sp>
    </p:spTree>
    <p:extLst>
      <p:ext uri="{BB962C8B-B14F-4D97-AF65-F5344CB8AC3E}">
        <p14:creationId xmlns:p14="http://schemas.microsoft.com/office/powerpoint/2010/main" val="1703856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984F9-047E-4B32-A1E1-4330A933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16228-A079-4FCB-B02C-F6D8622D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F"/>
                </a:solidFill>
              </a:defRPr>
            </a:pPr>
            <a:r>
              <a:rPr sz="3000" b="1">
                <a:solidFill>
                  <a:srgbClr val="F5F7FF"/>
                </a:solidFill>
              </a:rPr>
              <a:t>Надежный runtime вместо “обертки над LLM”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DC0E0-DB34-4E29-A272-449588A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4C4"/>
                </a:solidFill>
              </a:defRPr>
            </a:pPr>
            <a:r>
              <a:rPr sz="1350" b="0">
                <a:solidFill>
                  <a:srgbClr val="95A4C4"/>
                </a:solidFill>
              </a:rPr>
              <a:t>Оркестрация, память и контроль исполнения встроены в архитектуру продукта.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6889D-745B-4DBC-A8DB-9378332D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2B412-E572-493E-89A7-F400354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8FC10-03A3-43DD-A9E1-35B6C397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06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c244ac2034b16"/>
          <a:srcRect xmlns:a="http://schemas.openxmlformats.org/drawingml/2006/main" l="13214" t="0" r="132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866900"/>
            <a:ext cx="4095750" cy="3105150"/>
          </a:xfrm>
          <a:prstGeom xmlns:a="http://schemas.openxmlformats.org/drawingml/2006/main" prst="roundRect">
            <a:avLst>
              <a:gd name="adj" fmla="val 490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E22B6-4BD4-4626-BD3D-CF44691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CA1B0-C4DB-4897-8E07-7A6172D0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</a:defRPr>
            </a:pPr>
            <a:r>
              <a:rPr sz="1350" b="1">
                <a:solidFill>
                  <a:srgbClr val="F5F7FF"/>
                </a:solidFill>
              </a:rPr>
              <a:t>Multi-agent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7EC16-CA08-4399-8D5B-46B2524B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764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5A4C4"/>
                </a:solidFill>
              </a:defRPr>
            </a:pPr>
            <a:r>
              <a:rPr sz="1200" b="0">
                <a:solidFill>
                  <a:srgbClr val="95A4C4"/>
                </a:solidFill>
              </a:rPr>
              <a:t>Orca DAG, роли и параллельные ветки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22FCF-0196-40FE-BF61-C5321FF0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71114-3669-404D-9275-18043B1C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</a:defRPr>
            </a:pPr>
            <a:r>
              <a:rPr sz="1350" b="1">
                <a:solidFill>
                  <a:srgbClr val="F5F7FF"/>
                </a:solidFill>
              </a:rPr>
              <a:t>Durable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DDDDC-6091-479A-A31C-20023DF9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5A4C4"/>
                </a:solidFill>
              </a:defRPr>
            </a:pPr>
            <a:r>
              <a:rPr sz="1200" b="0">
                <a:solidFill>
                  <a:srgbClr val="95A4C4"/>
                </a:solidFill>
              </a:rPr>
              <a:t>Inbox / Outbox, leases, fencing и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A9329-24FA-4970-9B1C-803BC8A6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6A233-22AC-40E4-81A4-C5E683AC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</a:defRPr>
            </a:pPr>
            <a:r>
              <a:rPr sz="1350" b="1">
                <a:solidFill>
                  <a:srgbClr val="F5F7FF"/>
                </a:solidFill>
              </a:rPr>
              <a:t>Grounded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8297A-A35B-45EB-A22E-E6E1F897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5A4C4"/>
                </a:solidFill>
              </a:defRPr>
            </a:pPr>
            <a:r>
              <a:rPr sz="1200" b="0">
                <a:solidFill>
                  <a:srgbClr val="95A4C4"/>
                </a:solidFill>
              </a:rPr>
              <a:t>Policy Engine, Live Gate и human approval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67ECD-FA99-436C-B3BB-CCBF8D8B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647D2-2516-4A79-A5CB-7AC36DAF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</a:defRPr>
            </a:pPr>
            <a:r>
              <a:rPr sz="1350" b="1">
                <a:solidFill>
                  <a:srgbClr val="F5F7FF"/>
                </a:solidFill>
              </a:rPr>
              <a:t>Localized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64F63-51DE-45CC-8B8D-DBA75D2C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196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5A4C4"/>
                </a:solidFill>
              </a:defRPr>
            </a:pPr>
            <a:r>
              <a:rPr sz="1200" b="0">
                <a:solidFill>
                  <a:srgbClr val="95A4C4"/>
                </a:solidFill>
              </a:rPr>
              <a:t>UZ / RU / EN бизнес-контекст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89A4A-298C-49C7-AEF2-2FDBF32B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725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B1368-5590-4D66-A673-045F35A8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1D4F4"/>
                </a:solidFill>
              </a:defRPr>
            </a:pPr>
            <a:r>
              <a:rPr sz="825" b="1">
                <a:solidFill>
                  <a:srgbClr val="21D4F4"/>
                </a:solidFill>
              </a:rPr>
              <a:t>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B9F55-0AE9-446D-A88E-D72CBBDB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F"/>
                </a:solidFill>
              </a:defRPr>
            </a:pPr>
            <a:r>
              <a:rPr sz="1425" b="1">
                <a:solidFill>
                  <a:srgbClr val="F5F7FF"/>
                </a:solidFill>
              </a:rPr>
              <a:t>&lt; 4 sec до первого полезного ответа · с контролируемым продолжением долгих задач</a:t>
            </a:r>
          </a:p>
        </p:txBody>
      </p:sp>
    </p:spTree>
    <p:extLst>
      <p:ext uri="{BB962C8B-B14F-4D97-AF65-F5344CB8AC3E}">
        <p14:creationId xmlns:p14="http://schemas.microsoft.com/office/powerpoint/2010/main" val="21348381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BD615B-5BAB-4642-9EBA-840B0FB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A286B-4E7C-44C0-A580-649D1C27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F"/>
                </a:solidFill>
              </a:defRPr>
            </a:pPr>
            <a:r>
              <a:rPr sz="3000" b="1">
                <a:solidFill>
                  <a:srgbClr val="F5F7FF"/>
                </a:solidFill>
              </a:rPr>
              <a:t>Фундамент построен. Следующий рубеж — рынок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6D2BA-1036-4429-AB1B-C4E461D4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4C4"/>
                </a:solidFill>
              </a:defRPr>
            </a:pPr>
            <a:r>
              <a:rPr sz="1350" b="0">
                <a:solidFill>
                  <a:srgbClr val="95A4C4"/>
                </a:solidFill>
              </a:rPr>
              <a:t>Честная стадия: инженерная готовность выше коммерческой валидации.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E90F0-A871-48D0-B0E5-B508F178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76CEE-F2D5-4185-9F1E-B2CC4102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18932-A071-4D03-9980-9711301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A24BB-F04B-431B-92DA-18250470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9667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F3665-8D93-4C14-9AA2-CA8AD1E8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33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4B369-4730-4A68-98D5-64D2C734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D1A"/>
                </a:solidFill>
              </a:defRPr>
            </a:pPr>
            <a:r>
              <a:rPr sz="975" b="1">
                <a:solidFill>
                  <a:srgbClr val="080D1A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D1FAF-EACD-4896-B958-5DF31C7F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24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9A9"/>
                </a:solidFill>
              </a:defRPr>
            </a:pPr>
            <a:r>
              <a:rPr sz="900" b="1">
                <a:solidFill>
                  <a:srgbClr val="38D9A9"/>
                </a:solidFill>
              </a:rPr>
              <a:t>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B04AB-FF24-4C31-8932-E4489DD2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09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F"/>
                </a:solidFill>
              </a:defRPr>
            </a:pPr>
            <a:r>
              <a:rPr sz="1425" b="1">
                <a:solidFill>
                  <a:srgbClr val="F5F7FF"/>
                </a:solidFill>
              </a:rPr>
              <a:t>Built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CE8F3-8805-443C-B1FD-6EE6345E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Durable runtime, sandbox, vision, media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F0326-76C6-4F79-BE9F-A9B88523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33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781F0-6924-4C87-8C9A-CC65A2A2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385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D1A"/>
                </a:solidFill>
              </a:defRPr>
            </a:pPr>
            <a:r>
              <a:rPr sz="975" b="1">
                <a:solidFill>
                  <a:srgbClr val="080D1A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B7DD3-75A2-46BB-A0F6-6B06333C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24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INTEGRATIONS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80F4E-C5D9-4E81-8E78-4B95C936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09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F"/>
                </a:solidFill>
              </a:defRPr>
            </a:pPr>
            <a:r>
              <a:rPr sz="1425" b="1">
                <a:solidFill>
                  <a:srgbClr val="F5F7FF"/>
                </a:solidFill>
              </a:rPr>
              <a:t>Verified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8F54E-1315-49A1-85AC-DD6582C8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8290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amoCRM shadow flow и gateway contracts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8CB11-1A1B-4A80-B9D4-20AEE4FF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33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9F87D-9B7C-4E7E-8031-53C19C28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385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D1A"/>
                </a:solidFill>
              </a:defRPr>
            </a:pPr>
            <a:r>
              <a:rPr sz="975" b="1">
                <a:solidFill>
                  <a:srgbClr val="080D1A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B109C-E6FA-485F-B294-341F2CE2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24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CFF"/>
                </a:solidFill>
              </a:defRPr>
            </a:pPr>
            <a:r>
              <a:rPr sz="900" b="1">
                <a:solidFill>
                  <a:srgbClr val="8B7CFF"/>
                </a:solidFill>
              </a:rPr>
              <a:t>PILOTS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A6CCD-3913-49E3-8A12-53B7051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09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F"/>
                </a:solidFill>
              </a:defRPr>
            </a:pPr>
            <a:r>
              <a:rPr sz="1425" b="1">
                <a:solidFill>
                  <a:srgbClr val="F5F7FF"/>
                </a:solidFill>
              </a:rPr>
              <a:t>In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013C4-BD33-438B-A4E0-E9EEBD84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290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Первые сценарии с реальными компаниями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8AD1B-DED0-4F0A-A37A-754BB082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33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7F288-5EDE-4FF3-ABCB-13CF38E5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385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D1A"/>
                </a:solidFill>
              </a:defRPr>
            </a:pPr>
            <a:r>
              <a:rPr sz="975" b="1">
                <a:solidFill>
                  <a:srgbClr val="080D1A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5F6FF-38E1-4F2A-870E-59833112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24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</a:defRPr>
            </a:pPr>
            <a:r>
              <a:rPr sz="900" b="1">
                <a:solidFill>
                  <a:srgbClr val="FFB454"/>
                </a:solidFill>
              </a:rPr>
              <a:t>NEXT 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112A7-41FB-4519-801C-AE5FBC8B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09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F"/>
                </a:solidFill>
              </a:defRPr>
            </a:pPr>
            <a:r>
              <a:rPr sz="1425" b="1">
                <a:solidFill>
                  <a:srgbClr val="F5F7FF"/>
                </a:solidFill>
              </a:rPr>
              <a:t>Measure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F52319-7113-4B65-850F-A6D71C08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8290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5A4C4"/>
                </a:solidFill>
              </a:defRPr>
            </a:pPr>
            <a:r>
              <a:rPr sz="1125" b="0">
                <a:solidFill>
                  <a:srgbClr val="95A4C4"/>
                </a:solidFill>
              </a:rPr>
              <a:t>Conversion, retention, gross margin, LOI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61DA49-BD38-4D10-BF4C-8809517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2F7BA5-DAAC-4F00-9BDD-B77E6574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Инвестиционный тезис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5735B-4393-45DC-A62F-07FB73F5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768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F"/>
                </a:solidFill>
              </a:defRPr>
            </a:pPr>
            <a:r>
              <a:rPr sz="1500" b="1">
                <a:solidFill>
                  <a:srgbClr val="F5F7FF"/>
                </a:solidFill>
              </a:rPr>
              <a:t>Технический риск существенно снижен; главный риск и главный upside теперь — скорость коммерческой валидации.</a:t>
            </a:r>
          </a:p>
        </p:txBody>
      </p:sp>
    </p:spTree>
    <p:extLst>
      <p:ext uri="{BB962C8B-B14F-4D97-AF65-F5344CB8AC3E}">
        <p14:creationId xmlns:p14="http://schemas.microsoft.com/office/powerpoint/2010/main" val="9829765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0F26BD-6B4E-4445-A14E-D30DA017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COMPETITION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602F8-F3A0-41EC-8C49-331DBF99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F"/>
                </a:solidFill>
              </a:defRPr>
            </a:pPr>
            <a:r>
              <a:rPr sz="3000" b="1">
                <a:solidFill>
                  <a:srgbClr val="F5F7FF"/>
                </a:solidFill>
              </a:rPr>
              <a:t>Nemo конкурирует системой исполнения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A94C7-AC5B-4923-8475-A3A56D96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4C4"/>
                </a:solidFill>
              </a:defRPr>
            </a:pPr>
            <a:r>
              <a:rPr sz="1350" b="0">
                <a:solidFill>
                  <a:srgbClr val="95A4C4"/>
                </a:solidFill>
              </a:rPr>
              <a:t>Не только интерфейсом или качеством одного ответа.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EF753-043B-4352-A853-C497B6E4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4342E-4DEA-4E57-90E9-6ECAD3CE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7B8F-6CD3-4528-B580-EFE93021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3F824-AA8E-4A2B-A89A-3397BE71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714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B0D7E-C282-40F3-9B5B-F0CA2952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409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F"/>
                </a:solidFill>
              </a:defRPr>
            </a:pPr>
            <a:r>
              <a:rPr sz="1125" b="1">
                <a:solidFill>
                  <a:srgbClr val="F5F7FF"/>
                </a:solidFill>
              </a:rPr>
              <a:t>Критерий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7B4C2-E9EE-4893-BF4D-5EC42716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38350"/>
            <a:ext cx="2714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CFD57-1766-4FCB-9BA1-423F6E97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90750"/>
            <a:ext cx="2409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F"/>
                </a:solidFill>
              </a:defRPr>
            </a:pPr>
            <a:r>
              <a:rPr sz="1125" b="1">
                <a:solidFill>
                  <a:srgbClr val="F5F7FF"/>
                </a:solidFill>
              </a:rPr>
              <a:t>Button bots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02686-70B3-457D-BB17-26A52587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2714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F6B78-C0F8-4CF5-9FF9-8E92FA46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409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F"/>
                </a:solidFill>
              </a:defRPr>
            </a:pPr>
            <a:r>
              <a:rPr sz="1125" b="1">
                <a:solidFill>
                  <a:srgbClr val="F5F7FF"/>
                </a:solidFill>
              </a:rPr>
              <a:t>LLM wrappers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4EF6B-C442-4BB8-B712-25E3E8FE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38350"/>
            <a:ext cx="26574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1A670-0CB2-4537-9868-1B81281E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90750"/>
            <a:ext cx="2352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F"/>
                </a:solidFill>
              </a:defRPr>
            </a:pPr>
            <a:r>
              <a:rPr sz="1125" b="1">
                <a:solidFill>
                  <a:srgbClr val="F5F7FF"/>
                </a:solidFill>
              </a:rPr>
              <a:t>Nemo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91351-9DB0-4D01-ADA3-FE31AA0E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EFC70-42C7-4EAE-83B4-3FC29EF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F"/>
                </a:solidFill>
              </a:defRPr>
            </a:pPr>
            <a:r>
              <a:rPr sz="1125" b="1">
                <a:solidFill>
                  <a:srgbClr val="F5F7FF"/>
                </a:solidFill>
              </a:rPr>
              <a:t>Многошаговое исполнение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C802F-CA82-4EF3-BDCE-34574B5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52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B8D00-2E8F-40BB-ACE6-74F2AAE8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6225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3D832-83C3-4816-8DF9-BD525F35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36C6A-26EB-462A-A2D1-F217DFD1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Частично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A3481-7898-4405-B81F-A0D21147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52700"/>
            <a:ext cx="26574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00D2A-B0D0-4344-A60A-5E211A70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62250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D4F4"/>
                </a:solidFill>
              </a:defRPr>
            </a:pPr>
            <a:r>
              <a:rPr sz="1275" b="1">
                <a:solidFill>
                  <a:srgbClr val="21D4F4"/>
                </a:solidFill>
              </a:rPr>
              <a:t>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9952C-BF41-4DA4-8AA6-4ABA4E83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37864-6AD9-4BA8-B26E-81EC415B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F"/>
                </a:solidFill>
              </a:defRPr>
            </a:pPr>
            <a:r>
              <a:rPr sz="1125" b="1">
                <a:solidFill>
                  <a:srgbClr val="F5F7FF"/>
                </a:solidFill>
              </a:rPr>
              <a:t>Память и контекст компании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D9B80-C375-4B23-9B1A-CB7B5AB3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57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02707-3355-41AA-BF78-937E3DB1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6710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73A440-6837-4657-9A30-7434885A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31825-52DE-44FA-8906-62838148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Ограниченно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05CE46-5AE0-4BF3-BCDF-EB8F6397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57550"/>
            <a:ext cx="26574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186E3-4DED-4579-8352-75653207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67100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D4F4"/>
                </a:solidFill>
              </a:defRPr>
            </a:pPr>
            <a:r>
              <a:rPr sz="1275" b="1">
                <a:solidFill>
                  <a:srgbClr val="21D4F4"/>
                </a:solidFill>
              </a:rPr>
              <a:t>Да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33FD4B-3CC5-4489-966E-0A26CB5E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18D4A4-F4D5-4EF9-8489-00BD7AA3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F"/>
                </a:solidFill>
              </a:defRPr>
            </a:pPr>
            <a:r>
              <a:rPr sz="1125" b="1">
                <a:solidFill>
                  <a:srgbClr val="F5F7FF"/>
                </a:solidFill>
              </a:rPr>
              <a:t>Policy / approvals / 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DA4B7D-3292-4A26-8B9F-B7D09D9A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62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A5E659-95E5-46CC-9B0C-0AC5A120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17195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FEA67B-90AD-4BB7-9F0F-CDA7206D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62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5ECB45-B66C-4F11-B6B1-4E01AF23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Редко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9DC9CA-A438-48AA-9832-EE98C7E8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62400"/>
            <a:ext cx="26574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FCF8A0-1E25-4F3C-B5B7-FF50AC5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71950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D4F4"/>
                </a:solidFill>
              </a:defRPr>
            </a:pPr>
            <a:r>
              <a:rPr sz="1275" b="1">
                <a:solidFill>
                  <a:srgbClr val="21D4F4"/>
                </a:solidFill>
              </a:rPr>
              <a:t>Встроено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3E902C-6C97-4329-AF62-10A4A5A7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4632CF-4879-4931-9744-4EA50F51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F"/>
                </a:solidFill>
              </a:defRPr>
            </a:pPr>
            <a:r>
              <a:rPr sz="1125" b="1">
                <a:solidFill>
                  <a:srgbClr val="F5F7FF"/>
                </a:solidFill>
              </a:rPr>
              <a:t>UZ / RU / EN + on-premise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023C40-6D0D-49A9-AA99-7C946139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67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5BA00C-DC8E-4C69-88F3-AAF21C09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87680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6A5024-796C-4E5D-A52B-68C15244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7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67DAC5-BA69-4F05-9645-F8A01E59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2409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Редко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F4A6BF-64DE-42BA-B73F-5FD43C7C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67250"/>
            <a:ext cx="26574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9CE376-BC32-41B2-899D-C5EE4E8C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876800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D4F4"/>
                </a:solidFill>
              </a:defRPr>
            </a:pPr>
            <a:r>
              <a:rPr sz="1275" b="1">
                <a:solidFill>
                  <a:srgbClr val="21D4F4"/>
                </a:solidFill>
              </a:rPr>
              <a:t>Целевой фокус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53B6A4-6E47-4580-874E-94555A70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F"/>
                </a:solidFill>
              </a:defRPr>
            </a:pPr>
            <a:r>
              <a:rPr sz="1425" b="1">
                <a:solidFill>
                  <a:srgbClr val="F5F7FF"/>
                </a:solidFill>
              </a:rPr>
              <a:t>Позиционирование: Durable AI Operations OS для emerging markets</a:t>
            </a:r>
          </a:p>
        </p:txBody>
      </p:sp>
    </p:spTree>
    <p:extLst>
      <p:ext uri="{BB962C8B-B14F-4D97-AF65-F5344CB8AC3E}">
        <p14:creationId xmlns:p14="http://schemas.microsoft.com/office/powerpoint/2010/main" val="20754561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E450C-B127-4950-84AC-795D13DD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062F8-7B92-4E77-BADB-A8E702DD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F"/>
                </a:solidFill>
              </a:defRPr>
            </a:pPr>
            <a:r>
              <a:rPr sz="3000" b="1">
                <a:solidFill>
                  <a:srgbClr val="F5F7FF"/>
                </a:solidFill>
              </a:rPr>
              <a:t>Два основателя на стыке продукта и инженерии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4F0F5-D095-406D-9087-C9E32970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4C4"/>
                </a:solidFill>
              </a:defRPr>
            </a:pPr>
            <a:r>
              <a:rPr sz="1350" b="0">
                <a:solidFill>
                  <a:srgbClr val="95A4C4"/>
                </a:solidFill>
              </a:rPr>
              <a:t>Компактная команда строит ядро и проверяет клин выхода на рынок.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73D3F-303C-4A94-96F8-3A258868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DAC86-DE5B-481A-B5CA-FB9E3C78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1FFA6-7049-4565-B428-9D0D3372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AF355-1E01-4457-B47F-7610B10D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05400" cy="28384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9C494-67A0-402D-AF38-E911EBC2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CD189-67DA-4A51-933F-C39FEEFF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0D1A"/>
                </a:solidFill>
              </a:defRPr>
            </a:pPr>
            <a:r>
              <a:rPr sz="1800" b="1">
                <a:solidFill>
                  <a:srgbClr val="080D1A"/>
                </a:solidFill>
              </a:rPr>
              <a:t>FB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B4299-83FB-44B7-B2D7-7EF8C1DD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F"/>
                </a:solidFill>
              </a:defRPr>
            </a:pPr>
            <a:r>
              <a:rPr sz="1800" b="1">
                <a:solidFill>
                  <a:srgbClr val="F5F7FF"/>
                </a:solidFill>
              </a:rPr>
              <a:t>Firdavs Bahtiyorov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37A77-5610-402C-BA46-EEDE5DCB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00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D4F4"/>
                </a:solidFill>
              </a:defRPr>
            </a:pPr>
            <a:r>
              <a:rPr sz="1125" b="1">
                <a:solidFill>
                  <a:srgbClr val="21D4F4"/>
                </a:solidFill>
              </a:rPr>
              <a:t>Co-founder · Product &amp; Business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F7AAF-AC3A-425A-ADF9-7CFA7BBC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74797-1936-41CE-8A52-360AF182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400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Продуктовая стратегия, go-to-market, локальный рынок и клиентские сценарии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942BF-32F2-4BBE-9813-1C6498F7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105400" cy="28384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0182A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AB36F-B8B9-4608-ADA4-B1A16307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87084-31DB-453F-8B13-B57EB715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05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0D1A"/>
                </a:solidFill>
              </a:defRPr>
            </a:pPr>
            <a:r>
              <a:rPr sz="1800" b="1">
                <a:solidFill>
                  <a:srgbClr val="080D1A"/>
                </a:solidFill>
              </a:rPr>
              <a:t>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45271-4406-4931-B01E-07B53A46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F"/>
                </a:solidFill>
              </a:defRPr>
            </a:pPr>
            <a:r>
              <a:rPr sz="1800" b="1">
                <a:solidFill>
                  <a:srgbClr val="F5F7FF"/>
                </a:solidFill>
              </a:rPr>
              <a:t>Sarvar Husnaliyev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8DEAA-B380-4301-823B-A6FAF480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00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7CFF"/>
                </a:solidFill>
              </a:defRPr>
            </a:pPr>
            <a:r>
              <a:rPr sz="1125" b="1">
                <a:solidFill>
                  <a:srgbClr val="8B7CFF"/>
                </a:solidFill>
              </a:rPr>
              <a:t>Co-founder · Engineering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74D10-BC6E-4D71-B05D-71D988EB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43300"/>
            <a:ext cx="445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1F5C8-2A6F-4323-8C0F-93746931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4400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A4C4"/>
                </a:solidFill>
              </a:defRPr>
            </a:pPr>
            <a:r>
              <a:rPr sz="1275" b="0">
                <a:solidFill>
                  <a:srgbClr val="95A4C4"/>
                </a:solidFill>
              </a:rPr>
              <a:t>Архитектура платформы, runtime, интеграции и надежность исполнения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EDD57-FE0C-465C-A1E6-9E7CDA45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591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4906F4-7639-4F63-A890-D2CDD291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340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454"/>
                </a:solidFill>
              </a:defRPr>
            </a:pPr>
            <a:r>
              <a:rPr sz="825" b="1">
                <a:solidFill>
                  <a:srgbClr val="FFB454"/>
                </a:solidFill>
              </a:rPr>
              <a:t>HIRING 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4A84C-07DF-48D2-9E09-ADAD8BBA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48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F"/>
                </a:solidFill>
              </a:defRPr>
            </a:pPr>
            <a:r>
              <a:rPr sz="1425" b="1">
                <a:solidFill>
                  <a:srgbClr val="F5F7FF"/>
                </a:solidFill>
              </a:rPr>
              <a:t>Enterprise sales · Applied AI / ML · Customer success</a:t>
            </a:r>
          </a:p>
        </p:txBody>
      </p:sp>
    </p:spTree>
    <p:extLst>
      <p:ext uri="{BB962C8B-B14F-4D97-AF65-F5344CB8AC3E}">
        <p14:creationId xmlns:p14="http://schemas.microsoft.com/office/powerpoint/2010/main" val="15202760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BE320-42BC-4A16-AD76-7BF9A3FA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2E91E-3C69-4A60-87D1-0E35428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7FF"/>
                </a:solidFill>
              </a:defRPr>
            </a:pPr>
            <a:r>
              <a:rPr sz="3000" b="1">
                <a:solidFill>
                  <a:srgbClr val="F5F7FF"/>
                </a:solidFill>
              </a:rPr>
              <a:t>Ищем партнеров для перехода от платформы к рынку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D4BF6-5449-4254-AD9F-57616C96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4C4"/>
                </a:solidFill>
              </a:defRPr>
            </a:pPr>
            <a:r>
              <a:rPr sz="1350" b="0">
                <a:solidFill>
                  <a:srgbClr val="95A4C4"/>
                </a:solidFill>
              </a:rPr>
              <a:t>Акселерация, дизайн-партнеры и pre-seed для доказательства повторяемого роста.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138A8-B405-4FD3-98D1-50D12FE5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0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D5F98-CFF5-4980-B0A0-D54257F5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NEMO AI · CONFIDENTIAL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A7D6E-D891-4272-B0C4-A92304AB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5320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5A4C4"/>
                </a:solidFill>
              </a:defRPr>
            </a:pPr>
            <a:r>
              <a:rPr sz="750" b="1">
                <a:solidFill>
                  <a:srgbClr val="95A4C4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80557-8790-42C5-80E7-304CF8FF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2481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41E34"/>
          </a:solidFill>
          <a:ln xmlns:a="http://schemas.openxmlformats.org/drawingml/2006/main" w="9525">
            <a:solidFill>
              <a:srgbClr val="8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07F50-BC61-4C15-8D45-202DC0F6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CFF"/>
                </a:solidFill>
              </a:defRPr>
            </a:pPr>
            <a:r>
              <a:rPr sz="900" b="1">
                <a:solidFill>
                  <a:srgbClr val="8B7CFF"/>
                </a:solidFill>
              </a:rPr>
              <a:t>ЧТО НУЖНО СЕЙЧАС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84160-3298-42B9-B9FD-23DC4FED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B5279-D82C-4B8C-A509-45B1CB0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F"/>
                </a:solidFill>
              </a:defRPr>
            </a:pPr>
            <a:r>
              <a:rPr sz="1275" b="0">
                <a:solidFill>
                  <a:srgbClr val="F5F7FF"/>
                </a:solidFill>
              </a:rPr>
              <a:t>Менторство по enterprise GTM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6AC4E-B6E2-4515-B736-BA5EA094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9BB30-7F43-4C6A-BED0-2E39C261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F"/>
                </a:solidFill>
              </a:defRPr>
            </a:pPr>
            <a:r>
              <a:rPr sz="1275" b="0">
                <a:solidFill>
                  <a:srgbClr val="F5F7FF"/>
                </a:solidFill>
              </a:rPr>
              <a:t>Партнерства с CRM и отраслевыми игроками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5D75C-AFC6-420C-9868-BF9A1E13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EAF65-4638-4507-9D4C-0C2A99A6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F"/>
                </a:solidFill>
              </a:defRPr>
            </a:pPr>
            <a:r>
              <a:rPr sz="1275" b="0">
                <a:solidFill>
                  <a:srgbClr val="F5F7FF"/>
                </a:solidFill>
              </a:rPr>
              <a:t>Доступ к 5–10 дизайн-партнерам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474DC-3A6D-42DB-942E-A1619A1A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AB2AF-2A39-4057-A7E2-1EA9A5A3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7FF"/>
                </a:solidFill>
              </a:defRPr>
            </a:pPr>
            <a:r>
              <a:rPr sz="1275" b="1">
                <a:solidFill>
                  <a:srgbClr val="F5F7FF"/>
                </a:solidFill>
              </a:rPr>
              <a:t>Pre-seed на пилоты, продажи и надежность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2BE21-55B1-44BD-BF1A-343DDAE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95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D4F4"/>
                </a:solidFill>
              </a:defRPr>
            </a:pPr>
            <a:r>
              <a:rPr sz="900" b="1">
                <a:solidFill>
                  <a:srgbClr val="21D4F4"/>
                </a:solidFill>
              </a:rPr>
              <a:t>ROADMAP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75C4B-D8FA-4BD2-8132-46481D54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81300"/>
            <a:ext cx="0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E9C29-01F2-423F-B83A-B74321D9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37380-A3DE-426F-8395-04D0A56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D4F4"/>
                </a:solidFill>
              </a:defRPr>
            </a:pPr>
            <a:r>
              <a:rPr sz="1200" b="1">
                <a:solidFill>
                  <a:srgbClr val="21D4F4"/>
                </a:solidFill>
              </a:rPr>
              <a:t>Q3–Q4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4EC07-FD6A-4E0C-AEEF-4DA72CBD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</a:defRPr>
            </a:pPr>
            <a:r>
              <a:rPr sz="1350" b="1">
                <a:solidFill>
                  <a:srgbClr val="F5F7FF"/>
                </a:solidFill>
              </a:rPr>
              <a:t>Пилоты + подтверждение unit economics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48DDC-D8F2-4B9F-A381-91E9A4FE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57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54173-906C-4E88-AF23-2640716C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81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7CFF"/>
                </a:solidFill>
              </a:defRPr>
            </a:pPr>
            <a:r>
              <a:rPr sz="1200" b="1">
                <a:solidFill>
                  <a:srgbClr val="8B7CFF"/>
                </a:solidFill>
              </a:rPr>
              <a:t>Q1 2027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783A3-5544-49AD-BFAC-0CD6FCC1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</a:defRPr>
            </a:pPr>
            <a:r>
              <a:rPr sz="1350" b="1">
                <a:solidFill>
                  <a:srgbClr val="F5F7FF"/>
                </a:solidFill>
              </a:rPr>
              <a:t>Повторяемый sales motion + regional scale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D6507-2682-451E-8F2E-BE1E2FA1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0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492E2-EADF-45E4-A38B-73DAE6B9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33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7CFF"/>
                </a:solidFill>
              </a:defRPr>
            </a:pPr>
            <a:r>
              <a:rPr sz="1200" b="1">
                <a:solidFill>
                  <a:srgbClr val="8B7CFF"/>
                </a:solidFill>
              </a:rPr>
              <a:t>Q2 2027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B6F44-25DC-4A90-A94D-B91882A5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577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F"/>
                </a:solidFill>
              </a:defRPr>
            </a:pPr>
            <a:r>
              <a:rPr sz="1350" b="1">
                <a:solidFill>
                  <a:srgbClr val="F5F7FF"/>
                </a:solidFill>
              </a:rPr>
              <a:t>Enterprise / on-premise deployments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AA3D62-95A2-4484-AB71-C4174C3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F"/>
                </a:solidFill>
              </a:defRPr>
            </a:pPr>
            <a:r>
              <a:rPr sz="1575" b="1">
                <a:solidFill>
                  <a:srgbClr val="F5F7FF"/>
                </a:solidFill>
              </a:rPr>
              <a:t>Давайте построим операционную систему для автономного бизнеса.</a:t>
            </a:r>
          </a:p>
        </p:txBody>
      </p:sp>
    </p:spTree>
    <p:extLst>
      <p:ext uri="{BB962C8B-B14F-4D97-AF65-F5344CB8AC3E}">
        <p14:creationId xmlns:p14="http://schemas.microsoft.com/office/powerpoint/2010/main" val="978463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2026-08-26T12:49:24.4490000Z</dcterms:created>
  <dcterms:modified xsi:type="dcterms:W3CDTF">2026-08-26T12:49:24.4490000Z</dcterms:modified>
</coreProperties>
</file>